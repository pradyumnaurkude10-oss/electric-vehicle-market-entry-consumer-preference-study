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23960" y="777240"/>
            <a:ext cx="2423160" cy="2423160"/>
          </a:xfrm>
          <a:prstGeom prst="roundRect">
            <a:avLst>
              <a:gd name="adj" fmla="val 12000"/>
            </a:avLst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6920" y="1600200"/>
            <a:ext cx="1508760" cy="1508760"/>
          </a:xfrm>
          <a:prstGeom prst="roundRect">
            <a:avLst>
              <a:gd name="adj" fmla="val 12000"/>
            </a:avLst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98280" y="3657600"/>
            <a:ext cx="2148840" cy="1051560"/>
          </a:xfrm>
          <a:prstGeom prst="roundRect">
            <a:avLst>
              <a:gd name="adj" fmla="val 12000"/>
            </a:avLst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22960"/>
            <a:ext cx="7040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A09B"/>
                </a:solidFill>
                <a:latin typeface="Aptos"/>
              </a:rPr>
              <a:t>MBA • RESEARCH METHODS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7498079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ptos"/>
              </a:rPr>
              <a:t>Electric Vehicle Market Entry
&amp; Pricing Strategy in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46120"/>
            <a:ext cx="68580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CFDCE8"/>
                </a:solidFill>
                <a:latin typeface="Aptos"/>
              </a:rPr>
              <a:t>Understanding consumer preferences and willingness to pay
for premium electric vehicles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4315968"/>
            <a:ext cx="914400" cy="54864"/>
          </a:xfrm>
          <a:prstGeom prst="rect">
            <a:avLst/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709160"/>
            <a:ext cx="5303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Pradyumna Urkude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138928"/>
            <a:ext cx="6217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B1C2D2"/>
                </a:solidFill>
                <a:latin typeface="Aptos"/>
              </a:rPr>
              <a:t>MBA – Data Science  |  FHM Berlin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6263640"/>
            <a:ext cx="5943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B1C2D2"/>
                </a:solidFill>
                <a:latin typeface="Aptos"/>
              </a:rPr>
              <a:t>Academic research • Conjoint analysis • Excel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1223A"/>
                </a:solidFill>
                <a:latin typeface="Aptos"/>
              </a:rPr>
              <a:t>The market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Why pricing and positioning matter for a premium EV entrant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713232" cy="50292"/>
          </a:xfrm>
          <a:prstGeom prst="rect">
            <a:avLst/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7786"/>
                </a:solidFill>
                <a:latin typeface="Aptos"/>
              </a:rPr>
              <a:t>02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5257800" cy="434340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4572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A09B"/>
                </a:solidFill>
                <a:latin typeface="Aptos"/>
              </a:rPr>
              <a:t>THE BUSINESS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5262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11223A"/>
                </a:solidFill>
                <a:latin typeface="Aptos"/>
              </a:rPr>
              <a:t>Premium EV adoption in India faces affordability and infrastructure barriers.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4526280" cy="1737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303E"/>
                </a:solidFill>
                <a:latin typeface="Aptos"/>
              </a:defRPr>
            </a:pPr>
            <a:r>
              <a:t>•  High upfront vehicle prices can limit demand.</a:t>
            </a:r>
          </a:p>
          <a:p>
            <a:pPr>
              <a:spcAft>
                <a:spcPts val="1000"/>
              </a:spcAft>
              <a:defRPr sz="1400">
                <a:solidFill>
                  <a:srgbClr val="23303E"/>
                </a:solidFill>
                <a:latin typeface="Aptos"/>
              </a:defRPr>
            </a:pPr>
            <a:r>
              <a:t>•  Charging infrastructure and range concerns affect confidence.</a:t>
            </a:r>
          </a:p>
          <a:p>
            <a:pPr>
              <a:spcAft>
                <a:spcPts val="1000"/>
              </a:spcAft>
              <a:defRPr sz="1400">
                <a:solidFill>
                  <a:srgbClr val="23303E"/>
                </a:solidFill>
                <a:latin typeface="Aptos"/>
              </a:defRPr>
            </a:pPr>
            <a:r>
              <a:t>•  New entrants must compete with established automotive brands.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72768"/>
            <a:ext cx="5394960" cy="4343400"/>
          </a:xfrm>
          <a:prstGeom prst="roundRect">
            <a:avLst>
              <a:gd name="adj" fmla="val 12000"/>
            </a:avLst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01952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A09B"/>
                </a:solidFill>
                <a:latin typeface="Aptos"/>
              </a:rPr>
              <a:t>CORE RESEARCH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57200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What price will customers accept for a new premium EV, such as Tesla, compared with existing competitors in India?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4114800"/>
            <a:ext cx="4434840" cy="18288"/>
          </a:xfrm>
          <a:prstGeom prst="rect">
            <a:avLst/>
          </a:prstGeom>
          <a:solidFill>
            <a:srgbClr val="4A6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407408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9CBDB"/>
                </a:solidFill>
                <a:latin typeface="Aptos"/>
              </a:rPr>
              <a:t>Study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800600"/>
            <a:ext cx="452628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Brand &amp; model  •  Battery range  •  Ex-showroom 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87786"/>
                </a:solidFill>
                <a:latin typeface="Aptos"/>
              </a:rPr>
              <a:t>MBA – Data Science  |  FHM Berlin  |  Research Methods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1223A"/>
                </a:solidFill>
                <a:latin typeface="Aptos"/>
              </a:rPr>
              <a:t>Research design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A quantitative, cross-sectional study supported by conjoint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713232" cy="50292"/>
          </a:xfrm>
          <a:prstGeom prst="rect">
            <a:avLst/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7786"/>
                </a:solidFill>
                <a:latin typeface="Aptos"/>
              </a:rPr>
              <a:t>03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542032" cy="283464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" y="205740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76272"/>
            <a:ext cx="5669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852928"/>
            <a:ext cx="2103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1223A"/>
                </a:solidFill>
                <a:latin typeface="Aptos"/>
              </a:rPr>
              <a:t>Research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1031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687786"/>
                </a:solidFill>
                <a:latin typeface="Aptos"/>
              </a:rPr>
              <a:t>Cross-sectional survey to capture preferences at one point in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1828800"/>
            <a:ext cx="2542032" cy="283464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12463" y="205740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3" y="2176272"/>
            <a:ext cx="5669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3" y="2852928"/>
            <a:ext cx="2103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1223A"/>
                </a:solidFill>
                <a:latin typeface="Aptos"/>
              </a:rPr>
              <a:t>Sampling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3" y="3401568"/>
            <a:ext cx="21031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687786"/>
                </a:solidFill>
                <a:latin typeface="Aptos"/>
              </a:rPr>
              <a:t>Convenience sampling through accessible respondents and online sharing.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1828800"/>
            <a:ext cx="2542032" cy="283464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65392" y="205740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176272"/>
            <a:ext cx="5669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852928"/>
            <a:ext cx="2103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1223A"/>
                </a:solidFill>
                <a:latin typeface="Aptos"/>
              </a:rPr>
              <a:t>Survey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401568"/>
            <a:ext cx="21031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687786"/>
                </a:solidFill>
                <a:latin typeface="Aptos"/>
              </a:rPr>
              <a:t>Respondents evaluated alternative EV product profiles.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17152" y="1828800"/>
            <a:ext cx="2542032" cy="283464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8320" y="205740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2176272"/>
            <a:ext cx="5669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852928"/>
            <a:ext cx="2103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1223A"/>
                </a:solidFill>
                <a:latin typeface="Aptos"/>
              </a:rPr>
              <a:t>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401568"/>
            <a:ext cx="21031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687786"/>
                </a:solidFill>
                <a:latin typeface="Aptos"/>
              </a:rPr>
              <a:t>Dummy-variable regression and part-worth utility comparison in Excel.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0749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DB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257800"/>
            <a:ext cx="103784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1223A"/>
                </a:solidFill>
                <a:latin typeface="Aptos"/>
              </a:rPr>
              <a:t>372 observations in the Excel regression output  |  Google Forms survey  |  Excel-based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989320"/>
            <a:ext cx="10607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87786"/>
                </a:solidFill>
                <a:latin typeface="Aptos"/>
              </a:rPr>
              <a:t>Sampling note: convenience sampling is practical, but may not represent the full population of Indian EV buyers.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4652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87786"/>
                </a:solidFill>
                <a:latin typeface="Aptos"/>
              </a:rPr>
              <a:t>MBA – Data Science  |  FHM Berlin  |  Research Methods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1223A"/>
                </a:solidFill>
                <a:latin typeface="Aptos"/>
              </a:rPr>
              <a:t>Conjoint analysis: attributes &amp;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Three product attributes were varied to explore consumer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713232" cy="50292"/>
          </a:xfrm>
          <a:prstGeom prst="rect">
            <a:avLst/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7786"/>
                </a:solidFill>
                <a:latin typeface="Aptos"/>
              </a:rPr>
              <a:t>04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456432" cy="425196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65960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A09B"/>
                </a:solidFill>
                <a:latin typeface="Aptos"/>
              </a:rPr>
              <a:t>BRAND &amp;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" y="2606040"/>
            <a:ext cx="29718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2724912"/>
            <a:ext cx="2697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1223A"/>
                </a:solidFill>
                <a:latin typeface="Aptos"/>
              </a:rPr>
              <a:t>Tesla Model 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3319272"/>
            <a:ext cx="29718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438144"/>
            <a:ext cx="2697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1223A"/>
                </a:solidFill>
                <a:latin typeface="Aptos"/>
              </a:rPr>
              <a:t>Volvo EX60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4032504"/>
            <a:ext cx="29718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4151376"/>
            <a:ext cx="2697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1223A"/>
                </a:solidFill>
                <a:latin typeface="Aptos"/>
              </a:rPr>
              <a:t>BMW iX7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983480"/>
            <a:ext cx="29260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Which brand is preferred?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3128" y="1691640"/>
            <a:ext cx="3456432" cy="425196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965960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A09B"/>
                </a:solidFill>
                <a:latin typeface="Aptos"/>
              </a:rPr>
              <a:t>BATTERY RANGE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1728" y="2606040"/>
            <a:ext cx="29718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37176" y="2724912"/>
            <a:ext cx="2697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1223A"/>
                </a:solidFill>
                <a:latin typeface="Aptos"/>
              </a:rPr>
              <a:t>622 km  •  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81728" y="3319272"/>
            <a:ext cx="29718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7176" y="3438144"/>
            <a:ext cx="2697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1223A"/>
                </a:solidFill>
                <a:latin typeface="Aptos"/>
              </a:rPr>
              <a:t>656 km  •  Medium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81728" y="4032504"/>
            <a:ext cx="29718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7176" y="4151376"/>
            <a:ext cx="2697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1223A"/>
                </a:solidFill>
                <a:latin typeface="Aptos"/>
              </a:rPr>
              <a:t>700 km  •  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983480"/>
            <a:ext cx="29260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How much range matters?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1691640"/>
            <a:ext cx="3456432" cy="425196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6488" y="1965960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A09B"/>
                </a:solidFill>
                <a:latin typeface="Aptos"/>
              </a:rPr>
              <a:t>EX-SHOWROOM PRICE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76488" y="2606040"/>
            <a:ext cx="29718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31936" y="2724912"/>
            <a:ext cx="2697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1223A"/>
                </a:solidFill>
                <a:latin typeface="Aptos"/>
              </a:rPr>
              <a:t>€70,999  •  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3319272"/>
            <a:ext cx="29718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31936" y="3438144"/>
            <a:ext cx="2697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1223A"/>
                </a:solidFill>
                <a:latin typeface="Aptos"/>
              </a:rPr>
              <a:t>€74,999  •  Medium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76488" y="4032504"/>
            <a:ext cx="29718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31936" y="4151376"/>
            <a:ext cx="2697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1223A"/>
                </a:solidFill>
                <a:latin typeface="Aptos"/>
              </a:rPr>
              <a:t>€78,999  •  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4983480"/>
            <a:ext cx="29260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How does price influence choice?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080760"/>
            <a:ext cx="10607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87786"/>
                </a:solidFill>
                <a:latin typeface="Aptos"/>
              </a:rPr>
              <a:t>12 experimental product profiles were specified in the workbook.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87786"/>
                </a:solidFill>
                <a:latin typeface="Aptos"/>
              </a:rPr>
              <a:t>MBA – Data Science  |  FHM Berlin  |  Research Methods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1223A"/>
                </a:solidFill>
                <a:latin typeface="Aptos"/>
              </a:rPr>
              <a:t>Regression results: what does the model tell 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Excel multiple regression using survey ratings as the dependent variable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713232" cy="50292"/>
          </a:xfrm>
          <a:prstGeom prst="rect">
            <a:avLst/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7786"/>
                </a:solidFill>
                <a:latin typeface="Aptos"/>
              </a:rPr>
              <a:t>05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240280" cy="132588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64008" cy="1325880"/>
          </a:xfrm>
          <a:prstGeom prst="rect">
            <a:avLst/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37360"/>
            <a:ext cx="19202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1223A"/>
                </a:solidFill>
                <a:latin typeface="Aptos"/>
              </a:rPr>
              <a:t>372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58568"/>
            <a:ext cx="1920240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600200"/>
            <a:ext cx="2240280" cy="132588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3240" y="1600200"/>
            <a:ext cx="64008" cy="1325880"/>
          </a:xfrm>
          <a:prstGeom prst="rect">
            <a:avLst/>
          </a:prstGeom>
          <a:solidFill>
            <a:srgbClr val="ED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737360"/>
            <a:ext cx="19202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1223A"/>
                </a:solidFill>
                <a:latin typeface="Aptos"/>
              </a:rPr>
              <a:t>0.04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2258568"/>
            <a:ext cx="1920240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R-squared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8112" y="1600200"/>
            <a:ext cx="2240280" cy="132588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68112" y="1600200"/>
            <a:ext cx="64008" cy="1325880"/>
          </a:xfrm>
          <a:prstGeom prst="rect">
            <a:avLst/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1737360"/>
            <a:ext cx="19202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1223A"/>
                </a:solidFill>
                <a:latin typeface="Aptos"/>
              </a:rPr>
              <a:t>0.0403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258568"/>
            <a:ext cx="1920240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Significance 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72983" y="1600200"/>
            <a:ext cx="2240280" cy="132588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72983" y="1600200"/>
            <a:ext cx="64008" cy="1325880"/>
          </a:xfrm>
          <a:prstGeom prst="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1737360"/>
            <a:ext cx="19202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1223A"/>
                </a:solidFill>
                <a:latin typeface="Aptos"/>
              </a:rPr>
              <a:t>4.01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2258568"/>
            <a:ext cx="1920240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Intercept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37560"/>
            <a:ext cx="4937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1223A"/>
                </a:solidFill>
                <a:latin typeface="Aptos"/>
              </a:rPr>
              <a:t>Selected coefficient estimates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767328"/>
            <a:ext cx="1920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23303E"/>
                </a:solidFill>
                <a:latin typeface="Aptos"/>
              </a:rPr>
              <a:t>Tesla Model 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767328"/>
            <a:ext cx="1005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1223A"/>
                </a:solidFill>
                <a:latin typeface="Aptos"/>
              </a:rPr>
              <a:t>−0.385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767328"/>
            <a:ext cx="11430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C55353"/>
                </a:solidFill>
                <a:latin typeface="Aptos"/>
              </a:rPr>
              <a:t>p = 0.01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096512"/>
            <a:ext cx="1920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23303E"/>
                </a:solidFill>
                <a:latin typeface="Aptos"/>
              </a:rPr>
              <a:t>BMW iX7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096512"/>
            <a:ext cx="1005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1223A"/>
                </a:solidFill>
                <a:latin typeface="Aptos"/>
              </a:rPr>
              <a:t>−0.344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096512"/>
            <a:ext cx="11430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C55353"/>
                </a:solidFill>
                <a:latin typeface="Aptos"/>
              </a:rPr>
              <a:t>p = 0.02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425696"/>
            <a:ext cx="1920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23303E"/>
                </a:solidFill>
                <a:latin typeface="Aptos"/>
              </a:rPr>
              <a:t>622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425696"/>
            <a:ext cx="1005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1223A"/>
                </a:solidFill>
                <a:latin typeface="Aptos"/>
              </a:rPr>
              <a:t>−0.140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425696"/>
            <a:ext cx="11430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687786"/>
                </a:solidFill>
                <a:latin typeface="Aptos"/>
              </a:rPr>
              <a:t>p = 0.34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754880"/>
            <a:ext cx="1920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23303E"/>
                </a:solidFill>
                <a:latin typeface="Aptos"/>
              </a:rPr>
              <a:t>700 km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754880"/>
            <a:ext cx="1005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1223A"/>
                </a:solidFill>
                <a:latin typeface="Aptos"/>
              </a:rPr>
              <a:t>−0.041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754880"/>
            <a:ext cx="11430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687786"/>
                </a:solidFill>
                <a:latin typeface="Aptos"/>
              </a:rPr>
              <a:t>p = 0.78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084064"/>
            <a:ext cx="1920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23303E"/>
                </a:solidFill>
                <a:latin typeface="Aptos"/>
              </a:rPr>
              <a:t>€70,999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5084064"/>
            <a:ext cx="1005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1223A"/>
                </a:solidFill>
                <a:latin typeface="Aptos"/>
              </a:rPr>
              <a:t>+0.220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084064"/>
            <a:ext cx="11430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687786"/>
                </a:solidFill>
                <a:latin typeface="Aptos"/>
              </a:rPr>
              <a:t>p = 0.12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413248"/>
            <a:ext cx="1920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23303E"/>
                </a:solidFill>
                <a:latin typeface="Aptos"/>
              </a:rPr>
              <a:t>€74,999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413248"/>
            <a:ext cx="1005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1223A"/>
                </a:solidFill>
                <a:latin typeface="Aptos"/>
              </a:rPr>
              <a:t>+0.108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413248"/>
            <a:ext cx="11430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687786"/>
                </a:solidFill>
                <a:latin typeface="Aptos"/>
              </a:rPr>
              <a:t>p = 0.51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15000" y="3310128"/>
            <a:ext cx="5532120" cy="2331720"/>
          </a:xfrm>
          <a:prstGeom prst="roundRect">
            <a:avLst>
              <a:gd name="adj" fmla="val 12000"/>
            </a:avLst>
          </a:prstGeom>
          <a:solidFill>
            <a:srgbClr val="DB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16752" y="3611880"/>
            <a:ext cx="4892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A09B"/>
                </a:solidFill>
                <a:latin typeface="Aptos"/>
              </a:rPr>
              <a:t>INTERPRETATION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16752" y="4041648"/>
            <a:ext cx="480060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1223A"/>
                </a:solidFill>
                <a:latin typeface="Aptos"/>
              </a:rPr>
              <a:t>Brand-level coefficients are statistically significant at the 5% level in this model. The range and price coefficients shown are not statistically significant at 5%.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16752" y="5257800"/>
            <a:ext cx="4800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87786"/>
                </a:solidFill>
                <a:latin typeface="Aptos"/>
              </a:rPr>
              <a:t>R² ≈ 0.04: the model explains only about 4% of rating variation.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5989320"/>
            <a:ext cx="10698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87786"/>
                </a:solidFill>
                <a:latin typeface="Aptos"/>
              </a:rPr>
              <a:t>Caution: the low R² limits predictive strength; results should be treated as exploratory rather than conclusive.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44652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87786"/>
                </a:solidFill>
                <a:latin typeface="Aptos"/>
              </a:rPr>
              <a:t>MBA – Data Science  |  FHM Berlin  |  Research Methods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1223A"/>
                </a:solidFill>
                <a:latin typeface="Aptos"/>
              </a:rPr>
              <a:t>Which attributes matter most?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Relative importance calculated from the range of part-worth utilities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713232" cy="50292"/>
          </a:xfrm>
          <a:prstGeom prst="rect">
            <a:avLst/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7786"/>
                </a:solidFill>
                <a:latin typeface="Aptos"/>
              </a:rP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5486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1223A"/>
                </a:solidFill>
                <a:latin typeface="Aptos"/>
              </a:rPr>
              <a:t>ATTRIBUTE IMPORTANCE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23303E"/>
                </a:solidFill>
                <a:latin typeface="Aptos"/>
              </a:rPr>
              <a:t>Brand &amp;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79" y="2368296"/>
            <a:ext cx="4754880" cy="173736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97479" y="2368296"/>
            <a:ext cx="4124858" cy="173736"/>
          </a:xfrm>
          <a:prstGeom prst="rect">
            <a:avLst/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2313432"/>
            <a:ext cx="731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1223A"/>
                </a:solidFill>
                <a:latin typeface="Aptos"/>
              </a:rPr>
              <a:t>52.1%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23303E"/>
                </a:solidFill>
                <a:latin typeface="Aptos"/>
              </a:rPr>
              <a:t>Ex-showroom price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3282696"/>
            <a:ext cx="4754880" cy="173736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79" y="3282696"/>
            <a:ext cx="2388534" cy="173736"/>
          </a:xfrm>
          <a:prstGeom prst="rect">
            <a:avLst/>
          </a:prstGeom>
          <a:solidFill>
            <a:srgbClr val="ED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3227832"/>
            <a:ext cx="731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1223A"/>
                </a:solidFill>
                <a:latin typeface="Aptos"/>
              </a:rPr>
              <a:t>30.1%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23303E"/>
                </a:solidFill>
                <a:latin typeface="Aptos"/>
              </a:rPr>
              <a:t>Battery range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79" y="4197096"/>
            <a:ext cx="4754880" cy="173736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79" y="4197096"/>
            <a:ext cx="1411406" cy="173736"/>
          </a:xfrm>
          <a:prstGeom prst="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4142232"/>
            <a:ext cx="731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1223A"/>
                </a:solidFill>
                <a:latin typeface="Aptos"/>
              </a:rPr>
              <a:t>17.8%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3736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05740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A09B"/>
                </a:solidFill>
                <a:latin typeface="Aptos"/>
              </a:rPr>
              <a:t>KEY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606040"/>
            <a:ext cx="274320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Brand and model account for the largest share of relative importance in this set of profiles.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4251960"/>
            <a:ext cx="2743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BED0DF"/>
                </a:solidFill>
                <a:latin typeface="Aptos"/>
              </a:rPr>
              <a:t>Price is the second-largest factor.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94960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3303E"/>
                </a:solidFill>
                <a:latin typeface="Aptos"/>
              </a:rPr>
              <a:t>Implication: positioning and brand trust may be as important as technical specifications when presenting a premium EV offer.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87786"/>
                </a:solidFill>
                <a:latin typeface="Aptos"/>
              </a:rPr>
              <a:t>MBA – Data Science  |  FHM Berlin  |  Research Methods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1223A"/>
                </a:solidFill>
                <a:latin typeface="Aptos"/>
              </a:rPr>
              <a:t>Comparing product profile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Estimated utilities from the workbook's profile calculations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713232" cy="50292"/>
          </a:xfrm>
          <a:prstGeom prst="rect">
            <a:avLst/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7786"/>
                </a:solidFill>
                <a:latin typeface="Aptos"/>
              </a:rP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417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1223A"/>
                </a:solidFill>
                <a:latin typeface="Aptos"/>
              </a:rPr>
              <a:t>Ideal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645920"/>
            <a:ext cx="3886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Volvo EX60  •  656 km  •  €70,999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673352"/>
            <a:ext cx="3931920" cy="201168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73352"/>
            <a:ext cx="3696004" cy="201168"/>
          </a:xfrm>
          <a:prstGeom prst="rect">
            <a:avLst/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87000" y="1618488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1223A"/>
                </a:solidFill>
                <a:latin typeface="Aptos"/>
              </a:rPr>
              <a:t>4.23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41448"/>
            <a:ext cx="1417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1223A"/>
                </a:solidFill>
                <a:latin typeface="Aptos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441448"/>
            <a:ext cx="3886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Volvo EX60  •  656 km  •  €78,999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468879"/>
            <a:ext cx="3931920" cy="201168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468879"/>
            <a:ext cx="3503777" cy="201168"/>
          </a:xfrm>
          <a:prstGeom prst="rect">
            <a:avLst/>
          </a:prstGeom>
          <a:solidFill>
            <a:srgbClr val="1C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7000" y="2414016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1223A"/>
                </a:solidFill>
                <a:latin typeface="Aptos"/>
              </a:rPr>
              <a:t>4.01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36976"/>
            <a:ext cx="1417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1223A"/>
                </a:solidFill>
                <a:latin typeface="Aptos"/>
              </a:rPr>
              <a:t>Profile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236976"/>
            <a:ext cx="3886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Volvo EX60  •  622 km  •  €74,999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264408"/>
            <a:ext cx="3931920" cy="201168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264408"/>
            <a:ext cx="3477564" cy="201168"/>
          </a:xfrm>
          <a:prstGeom prst="rect">
            <a:avLst/>
          </a:prstGeom>
          <a:solidFill>
            <a:srgbClr val="ED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3209544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1223A"/>
                </a:solidFill>
                <a:latin typeface="Aptos"/>
              </a:rPr>
              <a:t>3.98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032504"/>
            <a:ext cx="1417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1223A"/>
                </a:solidFill>
                <a:latin typeface="Aptos"/>
              </a:rPr>
              <a:t>Profile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032504"/>
            <a:ext cx="3886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BMW iX7  •  656 km  •  €70,999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059936"/>
            <a:ext cx="3931920" cy="201168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059936"/>
            <a:ext cx="3398926" cy="201168"/>
          </a:xfrm>
          <a:prstGeom prst="rect">
            <a:avLst/>
          </a:prstGeom>
          <a:solidFill>
            <a:srgbClr val="5D80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4005072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1223A"/>
                </a:solidFill>
                <a:latin typeface="Aptos"/>
              </a:rPr>
              <a:t>3.89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828032"/>
            <a:ext cx="1417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1223A"/>
                </a:solidFill>
                <a:latin typeface="Aptos"/>
              </a:rPr>
              <a:t>Profile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828032"/>
            <a:ext cx="3886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Tesla Model Y  •  700 km  •  €70,999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855464"/>
            <a:ext cx="3931920" cy="201168"/>
          </a:xfrm>
          <a:prstGeom prst="rect">
            <a:avLst/>
          </a:prstGeom>
          <a:solidFill>
            <a:srgbClr val="DC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855464"/>
            <a:ext cx="3329025" cy="201168"/>
          </a:xfrm>
          <a:prstGeom prst="rect">
            <a:avLst/>
          </a:prstGeom>
          <a:solidFill>
            <a:srgbClr val="C5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7000" y="4800600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1223A"/>
                </a:solidFill>
                <a:latin typeface="Aptos"/>
              </a:rPr>
              <a:t>3.81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5715000"/>
            <a:ext cx="10652760" cy="438912"/>
          </a:xfrm>
          <a:prstGeom prst="roundRect">
            <a:avLst>
              <a:gd name="adj" fmla="val 12000"/>
            </a:avLst>
          </a:prstGeom>
          <a:solidFill>
            <a:srgbClr val="DB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797296"/>
            <a:ext cx="10195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1223A"/>
                </a:solidFill>
                <a:latin typeface="Aptos"/>
              </a:rPr>
              <a:t>The ideal profile scores 0.22 utility points above the baseline, driven by the lower price level while brand and range remain unchanged.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4652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87786"/>
                </a:solidFill>
                <a:latin typeface="Aptos"/>
              </a:rPr>
              <a:t>MBA – Data Science  |  FHM Berlin  |  Research Methods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1223A"/>
                </a:solidFill>
                <a:latin typeface="Aptos"/>
              </a:rPr>
              <a:t>Conclusions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32104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687786"/>
                </a:solidFill>
                <a:latin typeface="Aptos"/>
              </a:rPr>
              <a:t>What the analysis suggests — and what should be tested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713232" cy="50292"/>
          </a:xfrm>
          <a:prstGeom prst="rect">
            <a:avLst/>
          </a:prstGeom>
          <a:solidFill>
            <a:srgbClr val="00A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87786"/>
                </a:solidFill>
                <a:latin typeface="Aptos"/>
              </a:rPr>
              <a:t>08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456432" cy="205740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6596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A09B"/>
                </a:solidFill>
                <a:latin typeface="Aptos"/>
              </a:rPr>
              <a:t>01  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14600"/>
            <a:ext cx="29260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1223A"/>
                </a:solidFill>
                <a:latin typeface="Aptos"/>
              </a:rPr>
              <a:t>Build a credible brand proposition. Brand/model showed the highest relative importance in the analysed profiles.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691640"/>
            <a:ext cx="3456432" cy="205740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96596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A09B"/>
                </a:solidFill>
                <a:latin typeface="Aptos"/>
              </a:rPr>
              <a:t>02  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514600"/>
            <a:ext cx="29260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1223A"/>
                </a:solidFill>
                <a:latin typeface="Aptos"/>
              </a:rPr>
              <a:t>Test price points carefully. The ideal profile improved utility when price moved from €78,999 to €70,999.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1691640"/>
            <a:ext cx="3456432" cy="205740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965960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A09B"/>
                </a:solidFill>
                <a:latin typeface="Aptos"/>
              </a:rPr>
              <a:t>03 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514600"/>
            <a:ext cx="29260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1223A"/>
                </a:solidFill>
                <a:latin typeface="Aptos"/>
              </a:rPr>
              <a:t>Collect a broader sample and validate results before using them for commercial pricing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069080"/>
            <a:ext cx="6720840" cy="1508760"/>
          </a:xfrm>
          <a:prstGeom prst="roundRect">
            <a:avLst>
              <a:gd name="adj" fmla="val 12000"/>
            </a:avLst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343400"/>
            <a:ext cx="6080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A09B"/>
                </a:solidFill>
                <a:latin typeface="Aptos"/>
              </a:rPr>
              <a:t>LIMITATIONS TO KEEP IN MIND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754880"/>
            <a:ext cx="60807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Convenience sampling may introduce bias; the regression R² is low (≈0.04); stated survey preferences may not match real purchases.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069080"/>
            <a:ext cx="3886200" cy="1508760"/>
          </a:xfrm>
          <a:prstGeom prst="roundRect">
            <a:avLst>
              <a:gd name="adj" fmla="val 12000"/>
            </a:avLst>
          </a:prstGeom>
          <a:solidFill>
            <a:srgbClr val="DB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4343400"/>
            <a:ext cx="3246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0A09B"/>
                </a:solidFill>
                <a:latin typeface="Aptos"/>
              </a:rPr>
              <a:t>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4754880"/>
            <a:ext cx="3246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11223A"/>
                </a:solidFill>
                <a:latin typeface="Aptos"/>
              </a:rPr>
              <a:t>Expand the sample, add ownership and charging factors, and validate with new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1223A"/>
                </a:solidFill>
                <a:latin typeface="Aptos"/>
              </a:rPr>
              <a:t>Thank you  |  Questions &amp; discussion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7132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87786"/>
                </a:solidFill>
                <a:latin typeface="Aptos"/>
              </a:rPr>
              <a:t>MBA – Data Science  |  FHM Berlin  |  Research Methods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